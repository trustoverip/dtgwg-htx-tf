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3D85"/>
    <a:srgbClr val="F4704E"/>
    <a:srgbClr val="009AA6"/>
    <a:srgbClr val="2069E1"/>
    <a:srgbClr val="5B4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5"/>
  </p:normalViewPr>
  <p:slideViewPr>
    <p:cSldViewPr snapToGrid="0" snapToObjects="1">
      <p:cViewPr>
        <p:scale>
          <a:sx n="172" d="100"/>
          <a:sy n="172" d="100"/>
        </p:scale>
        <p:origin x="576" y="400"/>
      </p:cViewPr>
      <p:guideLst>
        <p:guide orient="horz" pos="2047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43E2D-00B6-6E46-8A5A-423A830B1AB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044AF-B143-224B-AA9A-0F2BC303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7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044AF-B143-224B-AA9A-0F2BC303F4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0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8704"/>
            <a:ext cx="2285882" cy="1154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750" b="1" dirty="0">
                <a:solidFill>
                  <a:srgbClr val="696F7C"/>
                </a:solidFill>
                <a:latin typeface="DINPro-Regular" panose="020B0504020101020102" pitchFamily="34" charset="0"/>
              </a:rPr>
              <a:t>HUMAN TRUST EXPERIENCE </a:t>
            </a:r>
            <a:r>
              <a:rPr sz="750" b="1" dirty="0">
                <a:solidFill>
                  <a:srgbClr val="696F7C"/>
                </a:solidFill>
                <a:latin typeface="DINPro-Regular" panose="020B0504020101020102" pitchFamily="34" charset="0"/>
              </a:rPr>
              <a:t>DESIGN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6448"/>
            <a:ext cx="4945265" cy="33855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924"/>
                </a:solidFill>
                <a:latin typeface="DINPro-Regular" panose="020B0504020101020102" pitchFamily="34" charset="0"/>
              </a:rPr>
              <a:t>Human-Centered Experience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094232"/>
            <a:ext cx="1984248" cy="41148"/>
          </a:xfrm>
          <a:prstGeom prst="rect">
            <a:avLst/>
          </a:prstGeom>
          <a:solidFill>
            <a:srgbClr val="5B4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1194816"/>
            <a:ext cx="3735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B47E6"/>
                </a:solidFill>
                <a:latin typeface="DINPro-Regular" panose="020B0504020101020102" pitchFamily="34" charset="0"/>
              </a:rPr>
              <a:t>HUMAN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2534" y="1094232"/>
            <a:ext cx="2916000" cy="41148"/>
          </a:xfrm>
          <a:prstGeom prst="rect">
            <a:avLst/>
          </a:prstGeom>
          <a:solidFill>
            <a:srgbClr val="20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82534" y="1194816"/>
            <a:ext cx="45845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2069E0"/>
                </a:solidFill>
                <a:latin typeface="DINPro-Regular" panose="020B0504020101020102" pitchFamily="34" charset="0"/>
              </a:rPr>
              <a:t>JOURNEY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9188" y="1094232"/>
            <a:ext cx="3221999" cy="41148"/>
          </a:xfrm>
          <a:prstGeom prst="rect">
            <a:avLst/>
          </a:prstGeom>
          <a:solidFill>
            <a:srgbClr val="00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>
              <a:latin typeface="DINPro-Regular" panose="020B0504020101020102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29189" y="1194816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9AA6"/>
                </a:solidFill>
                <a:latin typeface="DINPro-Regular" panose="020B0504020101020102" pitchFamily="34" charset="0"/>
              </a:rPr>
              <a:t>INTERACTION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81040" y="1094232"/>
            <a:ext cx="982980" cy="41148"/>
          </a:xfrm>
          <a:prstGeom prst="rect">
            <a:avLst/>
          </a:prstGeom>
          <a:solidFill>
            <a:srgbClr val="F47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81040" y="1194816"/>
            <a:ext cx="3879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704E"/>
                </a:solidFill>
                <a:latin typeface="DINPro-Regular" panose="020B0504020101020102" pitchFamily="34" charset="0"/>
              </a:rP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1833" y="1094232"/>
            <a:ext cx="982980" cy="41148"/>
          </a:xfrm>
          <a:prstGeom prst="rect">
            <a:avLst/>
          </a:prstGeom>
          <a:solidFill>
            <a:srgbClr val="AC3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DINPro-Regular" panose="020B0504020101020102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91833" y="1194816"/>
            <a:ext cx="3735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AC3E85"/>
                </a:solidFill>
                <a:latin typeface="DINPro-Regular" panose="020B0504020101020102" pitchFamily="34" charset="0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5B47E6"/>
                </a:solidFill>
                <a:latin typeface="DINPro-Regular" panose="020B0504020101020102" pitchFamily="34" charset="0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981200"/>
            <a:ext cx="806311" cy="123111"/>
          </a:xfrm>
          <a:prstGeom prst="rect">
            <a:avLst/>
          </a:prstGeom>
          <a:solidFill>
            <a:srgbClr val="5B46E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SET THE STAGE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2246376"/>
            <a:ext cx="213200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9194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5B47E6"/>
                </a:solidFill>
                <a:latin typeface="DINPro-Regular" panose="020B0504020101020102" pitchFamily="34" charset="0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9194" y="1981200"/>
            <a:ext cx="934551" cy="123111"/>
          </a:xfrm>
          <a:prstGeom prst="rect">
            <a:avLst/>
          </a:prstGeom>
          <a:solidFill>
            <a:srgbClr val="5B46E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DEFINE THE GOAL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49194" y="2246376"/>
            <a:ext cx="205184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2534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069E0"/>
                </a:solidFill>
                <a:latin typeface="DINPro-Regular" panose="020B0504020101020102" pitchFamily="34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2534" y="1981200"/>
            <a:ext cx="1053173" cy="123111"/>
          </a:xfrm>
          <a:prstGeom prst="rect">
            <a:avLst/>
          </a:prstGeom>
          <a:solidFill>
            <a:srgbClr val="2069E1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FRAME EXPERIENCE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82534" y="2246376"/>
            <a:ext cx="580287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Where / when?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2779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069E0"/>
                </a:solidFill>
                <a:latin typeface="DINPro-Regular" panose="020B0504020101020102" pitchFamily="34" charset="0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2779" y="1981200"/>
            <a:ext cx="860813" cy="123111"/>
          </a:xfrm>
          <a:prstGeom prst="rect">
            <a:avLst/>
          </a:prstGeom>
          <a:solidFill>
            <a:srgbClr val="2069E1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TELL THE STORY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02779" y="2246376"/>
            <a:ext cx="596317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happens?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0413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2069E0"/>
                </a:solidFill>
                <a:latin typeface="DINPro-Regular" panose="020B0504020101020102" pitchFamily="34" charset="0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0413" y="1981200"/>
            <a:ext cx="761427" cy="123111"/>
          </a:xfrm>
          <a:prstGeom prst="rect">
            <a:avLst/>
          </a:prstGeom>
          <a:solidFill>
            <a:srgbClr val="2069E1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HUMAN STATE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0413" y="2246376"/>
            <a:ext cx="480901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is felt?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189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9AA6"/>
                </a:solidFill>
                <a:latin typeface="DINPro-Regular" panose="020B0504020101020102" pitchFamily="34" charset="0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189" y="1981200"/>
            <a:ext cx="1003480" cy="123111"/>
          </a:xfrm>
          <a:prstGeom prst="rect">
            <a:avLst/>
          </a:prstGeom>
          <a:solidFill>
            <a:srgbClr val="009AA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MAP TOUCHPOINTS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9189" y="2246376"/>
            <a:ext cx="605935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Where contact?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6177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9AA6"/>
                </a:solidFill>
                <a:latin typeface="DINPro-Regular" panose="020B0504020101020102" pitchFamily="34" charset="0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6177" y="1981200"/>
            <a:ext cx="1158972" cy="123111"/>
          </a:xfrm>
          <a:prstGeom prst="rect">
            <a:avLst/>
          </a:prstGeom>
          <a:solidFill>
            <a:srgbClr val="009AA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MODEL INTERACTIONS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76177" y="2246376"/>
            <a:ext cx="506549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How exactly?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045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9AA6"/>
                </a:solidFill>
                <a:latin typeface="DINPro-Regular" panose="020B0504020101020102" pitchFamily="34" charset="0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045" y="1981200"/>
            <a:ext cx="953787" cy="123111"/>
          </a:xfrm>
          <a:prstGeom prst="rect">
            <a:avLst/>
          </a:prstGeom>
          <a:solidFill>
            <a:srgbClr val="009AA6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ACTIONS &amp; NEEDS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686045" y="2246376"/>
            <a:ext cx="637995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is needed?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1040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4704E"/>
                </a:solidFill>
                <a:latin typeface="DINPro-Regular" panose="020B0504020101020102" pitchFamily="34" charset="0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1040" y="1981200"/>
            <a:ext cx="910506" cy="123111"/>
          </a:xfrm>
          <a:prstGeom prst="rect">
            <a:avLst/>
          </a:prstGeom>
          <a:solidFill>
            <a:srgbClr val="F4704E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MAP THE SYSTEM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81040" y="2246376"/>
            <a:ext cx="644407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enables it?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1833" y="1459992"/>
            <a:ext cx="375103" cy="415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AC3E85"/>
                </a:solidFill>
                <a:latin typeface="DINPro-Regular" panose="020B0504020101020102" pitchFamily="34" charset="0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1833" y="1981200"/>
            <a:ext cx="1240724" cy="123111"/>
          </a:xfrm>
          <a:prstGeom prst="rect">
            <a:avLst/>
          </a:prstGeom>
          <a:solidFill>
            <a:srgbClr val="AC3D85"/>
          </a:solidFill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r>
              <a:rPr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DESIGN REQUIREMENTS</a:t>
            </a:r>
            <a:r>
              <a:rPr lang="de-CH" sz="800" b="1" dirty="0">
                <a:solidFill>
                  <a:schemeClr val="bg1"/>
                </a:solidFill>
                <a:latin typeface="DINPro-Regular" panose="020B0504020101020102" pitchFamily="34" charset="0"/>
              </a:rPr>
              <a:t> </a:t>
            </a:r>
            <a:endParaRPr sz="800" b="1" dirty="0">
              <a:solidFill>
                <a:schemeClr val="bg1"/>
              </a:solidFill>
              <a:latin typeface="DINPro-Regular" panose="020B0504020101020102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691833" y="2246376"/>
            <a:ext cx="591509" cy="1046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696F7C"/>
                </a:solidFill>
                <a:latin typeface="DINPro-Regular" panose="020B0504020101020102" pitchFamily="34" charset="0"/>
              </a:rPr>
              <a:t>What changes?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2493264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2575559"/>
            <a:ext cx="419987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QUESTION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2575559"/>
            <a:ext cx="399148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Who is the
person?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49194" y="2575559"/>
            <a:ext cx="670055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are they
trying to achieve?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2534" y="2575559"/>
            <a:ext cx="70532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Where does the
journey start/end?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2779" y="2575559"/>
            <a:ext cx="746999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happens from
start to finish?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0413" y="2575559"/>
            <a:ext cx="79028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happens inside
the person's mind?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9189" y="2575559"/>
            <a:ext cx="61715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Who / what do
they encounter?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6177" y="2575559"/>
            <a:ext cx="86081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How does each critical
interaction unfold?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045" y="2575559"/>
            <a:ext cx="868828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do they do and
need at each moment?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81040" y="2575559"/>
            <a:ext cx="80791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makes the
experience possible?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1833" y="2575559"/>
            <a:ext cx="960199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What should we improve,
build or protect?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3105912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3188207"/>
            <a:ext cx="527388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DIMENSIONS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40" y="3188207"/>
            <a:ext cx="436017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Persona
Context
Capabilities
Constraints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49194" y="3188207"/>
            <a:ext cx="599523" cy="30239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Goal
Motivation
Success criteria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82534" y="3188207"/>
            <a:ext cx="333425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Scenario
Trigger
Scope
Outcome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2779" y="3188207"/>
            <a:ext cx="509755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Stages
Sequence
Narrative
Key moments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0413" y="3188207"/>
            <a:ext cx="520976" cy="30239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Think · Feel
Know · Expect
Need · Trust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9189" y="3188207"/>
            <a:ext cx="434414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People
Channels
Interfaces
Information
Services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6177" y="3188207"/>
            <a:ext cx="525785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Flows
Branches
Dependencies
Exceptions
Recovery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045" y="3188207"/>
            <a:ext cx="434414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Actions
Information
Decisions
Support
Friction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1040" y="3188207"/>
            <a:ext cx="597921" cy="403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Interfaces
Services · Data
Identity · Rules
Protocols · Infra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1833" y="3188207"/>
            <a:ext cx="642805" cy="5039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5" b="0">
                <a:solidFill>
                  <a:srgbClr val="141924"/>
                </a:solidFill>
                <a:latin typeface="DINPro-Regular" panose="020B0504020101020102" pitchFamily="34" charset="0"/>
              </a:rPr>
              <a:t>Pain points
Moments of truth
Opportunities
Requirements
Principles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02920" y="3974591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2920" y="4056887"/>
            <a:ext cx="221214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LENS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3040" y="4056887"/>
            <a:ext cx="447238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Persona /
user profile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49194" y="4056887"/>
            <a:ext cx="488916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User needs /
JTBD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82534" y="4056887"/>
            <a:ext cx="74539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Scenario /
experience framing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2779" y="4056887"/>
            <a:ext cx="79188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Journey mapping /
experience narrative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0413" y="4056887"/>
            <a:ext cx="735779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Empathy mapping /
mental models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9189" y="4056887"/>
            <a:ext cx="64601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Journey map /
service blueprint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6177" y="4056887"/>
            <a:ext cx="64120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Task analysis /
interaction flows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045" y="4056887"/>
            <a:ext cx="453650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User-needs
mapping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81040" y="4056887"/>
            <a:ext cx="70532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Service blueprint /
system mapping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91833" y="4056887"/>
            <a:ext cx="78867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0">
                <a:solidFill>
                  <a:srgbClr val="141924"/>
                </a:solidFill>
                <a:latin typeface="DINPro-Regular" panose="020B0504020101020102" pitchFamily="34" charset="0"/>
              </a:rPr>
              <a:t>UX synthesis /
opportunity mapping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02920" y="4651248"/>
            <a:ext cx="11183112" cy="0"/>
          </a:xfrm>
          <a:prstGeom prst="line">
            <a:avLst/>
          </a:prstGeom>
          <a:ln w="6985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02920" y="4733544"/>
            <a:ext cx="331822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1">
                <a:solidFill>
                  <a:srgbClr val="696F7C"/>
                </a:solidFill>
                <a:latin typeface="DINPro-Regular" panose="020B0504020101020102" pitchFamily="34" charset="0"/>
              </a:rPr>
              <a:t>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63040" y="4733544"/>
            <a:ext cx="862416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PERSONA &amp; CONTEXT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49194" y="4733544"/>
            <a:ext cx="69410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GOAL &amp; SUCCESS
CRITERIA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82534" y="4733544"/>
            <a:ext cx="783869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SCENARIO &amp; SCOPE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02779" y="4733544"/>
            <a:ext cx="706925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JOURNEY STAGES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0413" y="4733544"/>
            <a:ext cx="795089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HUMAN-STATE MAP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29189" y="4733544"/>
            <a:ext cx="610745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TOUCHPOINT &amp;
ACTOR MAP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76177" y="4733544"/>
            <a:ext cx="601127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SEQUENTIAL /
ACTION GRAPH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045" y="4733544"/>
            <a:ext cx="732573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ACTIONS &amp; NEEDS
MATRIX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81040" y="4733544"/>
            <a:ext cx="545021" cy="2077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TECHNICAL &amp;
SERVICE MAP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91833" y="4733544"/>
            <a:ext cx="965008" cy="103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675" dirty="0">
                <a:solidFill>
                  <a:srgbClr val="141924"/>
                </a:solidFill>
                <a:latin typeface="DINPro-Regular" panose="020B0504020101020102" pitchFamily="34" charset="0"/>
              </a:rPr>
              <a:t>DESIGN REQUIREMENTS</a:t>
            </a:r>
          </a:p>
        </p:txBody>
      </p:sp>
      <p:cxnSp>
        <p:nvCxnSpPr>
          <p:cNvPr id="114" name="Connector 92">
            <a:extLst>
              <a:ext uri="{FF2B5EF4-FFF2-40B4-BE49-F238E27FC236}">
                <a16:creationId xmlns:a16="http://schemas.microsoft.com/office/drawing/2014/main" id="{1F513652-B889-C28E-3D79-FAE27638B26F}"/>
              </a:ext>
            </a:extLst>
          </p:cNvPr>
          <p:cNvCxnSpPr/>
          <p:nvPr/>
        </p:nvCxnSpPr>
        <p:spPr>
          <a:xfrm>
            <a:off x="502920" y="5291328"/>
            <a:ext cx="11183112" cy="0"/>
          </a:xfrm>
          <a:prstGeom prst="line">
            <a:avLst/>
          </a:prstGeom>
          <a:ln w="6350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AFEEFA08-76E4-C5E5-0FFB-85411161766C}"/>
              </a:ext>
            </a:extLst>
          </p:cNvPr>
          <p:cNvSpPr txBox="1"/>
          <p:nvPr/>
        </p:nvSpPr>
        <p:spPr>
          <a:xfrm>
            <a:off x="502920" y="5382768"/>
            <a:ext cx="564257" cy="2000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696F7C"/>
                </a:solidFill>
                <a:latin typeface="DINPro-Regular" panose="020B0504020101020102" pitchFamily="34" charset="0"/>
              </a:rPr>
              <a:t>ILLUSTRATIVE
FINDINGS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27856D-DEF5-39B4-3AC1-3AE3395C13AE}"/>
              </a:ext>
            </a:extLst>
          </p:cNvPr>
          <p:cNvSpPr txBox="1"/>
          <p:nvPr/>
        </p:nvSpPr>
        <p:spPr>
          <a:xfrm>
            <a:off x="1463040" y="5355336"/>
            <a:ext cx="2593659" cy="1031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696F7C"/>
                </a:solidFill>
                <a:latin typeface="DINPro-Regular" panose="020B0504020101020102" pitchFamily="34" charset="0"/>
              </a:rPr>
              <a:t>Evidence status is attached to individual findings — examples below.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62C8E4D-BA85-38D8-0F11-A22928FADDAD}"/>
              </a:ext>
            </a:extLst>
          </p:cNvPr>
          <p:cNvSpPr txBox="1"/>
          <p:nvPr/>
        </p:nvSpPr>
        <p:spPr>
          <a:xfrm>
            <a:off x="1463040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39AD57A-5A4A-CC05-43EC-56B2FE64901E}"/>
              </a:ext>
            </a:extLst>
          </p:cNvPr>
          <p:cNvSpPr txBox="1"/>
          <p:nvPr/>
        </p:nvSpPr>
        <p:spPr>
          <a:xfrm>
            <a:off x="1463041" y="5803392"/>
            <a:ext cx="699554" cy="27699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dirty="0">
                <a:solidFill>
                  <a:srgbClr val="696F7C"/>
                </a:solidFill>
                <a:latin typeface="DINPro-Regular" panose="020B0504020101020102" pitchFamily="34" charset="0"/>
              </a:rPr>
              <a:t>Persona interview:
user checks requested data.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ABC0CC1-F8AF-46CC-5D8B-A1E1ABA12EDE}"/>
              </a:ext>
            </a:extLst>
          </p:cNvPr>
          <p:cNvSpPr txBox="1"/>
          <p:nvPr/>
        </p:nvSpPr>
        <p:spPr>
          <a:xfrm>
            <a:off x="2449194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389BB2C-7519-CFEF-3D54-00D63FE672FA}"/>
              </a:ext>
            </a:extLst>
          </p:cNvPr>
          <p:cNvSpPr txBox="1"/>
          <p:nvPr/>
        </p:nvSpPr>
        <p:spPr>
          <a:xfrm>
            <a:off x="2449194" y="5803392"/>
            <a:ext cx="763029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pauses before
approving the request.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2FA9E3-166C-E450-0CCD-D8991140A00B}"/>
              </a:ext>
            </a:extLst>
          </p:cNvPr>
          <p:cNvSpPr txBox="1"/>
          <p:nvPr/>
        </p:nvSpPr>
        <p:spPr>
          <a:xfrm>
            <a:off x="3482534" y="5611368"/>
            <a:ext cx="436017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○ ASSUMED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A8BF16E-1D91-7E70-BD27-BB013F421F95}"/>
              </a:ext>
            </a:extLst>
          </p:cNvPr>
          <p:cNvSpPr txBox="1"/>
          <p:nvPr/>
        </p:nvSpPr>
        <p:spPr>
          <a:xfrm>
            <a:off x="3482534" y="5803392"/>
            <a:ext cx="695703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Users expect a clear
start and end state.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E523EA-21F3-9279-3A86-5E86D034DD44}"/>
              </a:ext>
            </a:extLst>
          </p:cNvPr>
          <p:cNvSpPr txBox="1"/>
          <p:nvPr/>
        </p:nvSpPr>
        <p:spPr>
          <a:xfrm>
            <a:off x="4602779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528DD64-B5E1-1ED0-5960-F37BB1B8F338}"/>
              </a:ext>
            </a:extLst>
          </p:cNvPr>
          <p:cNvSpPr txBox="1"/>
          <p:nvPr/>
        </p:nvSpPr>
        <p:spPr>
          <a:xfrm>
            <a:off x="4602779" y="5803392"/>
            <a:ext cx="724557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Users abandon at the
verification step.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B9CD3C6-D969-D8DF-659C-A840A72C4603}"/>
              </a:ext>
            </a:extLst>
          </p:cNvPr>
          <p:cNvSpPr txBox="1"/>
          <p:nvPr/>
        </p:nvSpPr>
        <p:spPr>
          <a:xfrm>
            <a:off x="5530413" y="5611368"/>
            <a:ext cx="474489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◐ INFERRED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4DEE619-8BE1-8EE1-7D3C-D506F5F8AA3A}"/>
              </a:ext>
            </a:extLst>
          </p:cNvPr>
          <p:cNvSpPr txBox="1"/>
          <p:nvPr/>
        </p:nvSpPr>
        <p:spPr>
          <a:xfrm>
            <a:off x="5530413" y="5803392"/>
            <a:ext cx="860813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may not understand
why all data is needed.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B3EC05A-2EA2-061B-FF4D-42807F9C9641}"/>
              </a:ext>
            </a:extLst>
          </p:cNvPr>
          <p:cNvSpPr txBox="1"/>
          <p:nvPr/>
        </p:nvSpPr>
        <p:spPr>
          <a:xfrm>
            <a:off x="6429189" y="5611368"/>
            <a:ext cx="474489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◐ INFERRED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21CA323-A69D-91D6-9542-78C7B549D041}"/>
              </a:ext>
            </a:extLst>
          </p:cNvPr>
          <p:cNvSpPr txBox="1"/>
          <p:nvPr/>
        </p:nvSpPr>
        <p:spPr>
          <a:xfrm>
            <a:off x="6429189" y="5803392"/>
            <a:ext cx="872034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may confuse service
and external verifier.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02760D0-9058-50C9-6C3E-5AE217920E39}"/>
              </a:ext>
            </a:extLst>
          </p:cNvPr>
          <p:cNvSpPr txBox="1"/>
          <p:nvPr/>
        </p:nvSpPr>
        <p:spPr>
          <a:xfrm>
            <a:off x="7476177" y="5611368"/>
            <a:ext cx="471283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 dirty="0">
                <a:solidFill>
                  <a:srgbClr val="141924"/>
                </a:solidFill>
                <a:latin typeface="DINPro-Regular" panose="020B0504020101020102" pitchFamily="34" charset="0"/>
              </a:rPr>
              <a:t>● OBSERVED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565DE74-5247-17A1-3B63-B0F88B172EC1}"/>
              </a:ext>
            </a:extLst>
          </p:cNvPr>
          <p:cNvSpPr txBox="1"/>
          <p:nvPr/>
        </p:nvSpPr>
        <p:spPr>
          <a:xfrm>
            <a:off x="7476177" y="5803392"/>
            <a:ext cx="920124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User opens “Why needed?”
before continuing.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B09048E-B104-9521-5F68-20F4A24BD51C}"/>
              </a:ext>
            </a:extLst>
          </p:cNvPr>
          <p:cNvSpPr txBox="1"/>
          <p:nvPr/>
        </p:nvSpPr>
        <p:spPr>
          <a:xfrm>
            <a:off x="8677330" y="5611368"/>
            <a:ext cx="436017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○ ASSUMED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B0EC82A-C4E2-09D7-58E9-6333D77C6244}"/>
              </a:ext>
            </a:extLst>
          </p:cNvPr>
          <p:cNvSpPr txBox="1"/>
          <p:nvPr/>
        </p:nvSpPr>
        <p:spPr>
          <a:xfrm>
            <a:off x="8677330" y="5803392"/>
            <a:ext cx="894476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Purpose explanations may
reduce uncertainty.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0229679-FB48-B4DC-79C1-0BE60D1EFD2E}"/>
              </a:ext>
            </a:extLst>
          </p:cNvPr>
          <p:cNvSpPr txBox="1"/>
          <p:nvPr/>
        </p:nvSpPr>
        <p:spPr>
          <a:xfrm>
            <a:off x="9672325" y="5611368"/>
            <a:ext cx="436017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○ ASSUMED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EDFEA1C-EBB3-0142-4FC1-0AD4C24CF88A}"/>
              </a:ext>
            </a:extLst>
          </p:cNvPr>
          <p:cNvSpPr txBox="1"/>
          <p:nvPr/>
        </p:nvSpPr>
        <p:spPr>
          <a:xfrm>
            <a:off x="9672325" y="5803392"/>
            <a:ext cx="891270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Recovery dependency may
be critical.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383D476-C073-634F-8471-88B5E26AC439}"/>
              </a:ext>
            </a:extLst>
          </p:cNvPr>
          <p:cNvSpPr txBox="1"/>
          <p:nvPr/>
        </p:nvSpPr>
        <p:spPr>
          <a:xfrm>
            <a:off x="10683118" y="5611368"/>
            <a:ext cx="477695" cy="938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0">
                <a:solidFill>
                  <a:srgbClr val="141924"/>
                </a:solidFill>
                <a:latin typeface="DINPro-Regular" panose="020B0504020101020102" pitchFamily="34" charset="0"/>
              </a:rPr>
              <a:t>◇ DESIGNED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49456E9-219A-9374-DAA4-4F717BA9A4EC}"/>
              </a:ext>
            </a:extLst>
          </p:cNvPr>
          <p:cNvSpPr txBox="1"/>
          <p:nvPr/>
        </p:nvSpPr>
        <p:spPr>
          <a:xfrm>
            <a:off x="10683118" y="5803392"/>
            <a:ext cx="966611" cy="1846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696F7C"/>
                </a:solidFill>
                <a:latin typeface="DINPro-Regular" panose="020B0504020101020102" pitchFamily="34" charset="0"/>
              </a:rPr>
              <a:t>Show attribute → purpose
→ recipient before approval.</a:t>
            </a:r>
          </a:p>
        </p:txBody>
      </p:sp>
      <p:cxnSp>
        <p:nvCxnSpPr>
          <p:cNvPr id="141" name="Connector 115">
            <a:extLst>
              <a:ext uri="{FF2B5EF4-FFF2-40B4-BE49-F238E27FC236}">
                <a16:creationId xmlns:a16="http://schemas.microsoft.com/office/drawing/2014/main" id="{DEE9573F-EFA0-1C89-3A65-4C71BF104DD2}"/>
              </a:ext>
            </a:extLst>
          </p:cNvPr>
          <p:cNvCxnSpPr/>
          <p:nvPr/>
        </p:nvCxnSpPr>
        <p:spPr>
          <a:xfrm>
            <a:off x="502920" y="6251448"/>
            <a:ext cx="11183112" cy="0"/>
          </a:xfrm>
          <a:prstGeom prst="line">
            <a:avLst/>
          </a:prstGeom>
          <a:ln w="6350">
            <a:solidFill>
              <a:srgbClr val="DC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E50A5A2-5D17-8AAE-59C7-4779495E1EEE}"/>
              </a:ext>
            </a:extLst>
          </p:cNvPr>
          <p:cNvSpPr txBox="1"/>
          <p:nvPr/>
        </p:nvSpPr>
        <p:spPr>
          <a:xfrm>
            <a:off x="502920" y="6346184"/>
            <a:ext cx="524182" cy="1908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20" b="1" dirty="0">
                <a:solidFill>
                  <a:srgbClr val="696F7C"/>
                </a:solidFill>
                <a:latin typeface="DINPro-Regular" panose="020B0504020101020102" pitchFamily="34" charset="0"/>
              </a:rPr>
              <a:t>EVIDENCE</a:t>
            </a:r>
            <a:br>
              <a:rPr lang="de-CH" sz="620" b="1" dirty="0">
                <a:solidFill>
                  <a:srgbClr val="696F7C"/>
                </a:solidFill>
                <a:latin typeface="DINPro-Regular" panose="020B0504020101020102" pitchFamily="34" charset="0"/>
              </a:rPr>
            </a:br>
            <a:r>
              <a:rPr sz="620" b="1" dirty="0">
                <a:solidFill>
                  <a:srgbClr val="696F7C"/>
                </a:solidFill>
                <a:latin typeface="DINPro-Regular" panose="020B0504020101020102" pitchFamily="34" charset="0"/>
              </a:rPr>
              <a:t>PROVENANCE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4762853-6A7A-E2DC-4364-220842A8A2D4}"/>
              </a:ext>
            </a:extLst>
          </p:cNvPr>
          <p:cNvSpPr txBox="1"/>
          <p:nvPr/>
        </p:nvSpPr>
        <p:spPr>
          <a:xfrm>
            <a:off x="1439278" y="6346184"/>
            <a:ext cx="1824217" cy="984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40" dirty="0">
                <a:solidFill>
                  <a:srgbClr val="696F7C"/>
                </a:solidFill>
                <a:latin typeface="DINPro-Regular" panose="020B0504020101020102" pitchFamily="34" charset="0"/>
              </a:rPr>
              <a:t>● Observed   ◐ Inferred   ○ Assumed   ◇ Designed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35067AD-7F6E-76C0-8F19-71375071CDB0}"/>
              </a:ext>
            </a:extLst>
          </p:cNvPr>
          <p:cNvSpPr txBox="1"/>
          <p:nvPr/>
        </p:nvSpPr>
        <p:spPr>
          <a:xfrm>
            <a:off x="4881567" y="6346184"/>
            <a:ext cx="763029" cy="954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20" b="1" dirty="0">
                <a:solidFill>
                  <a:srgbClr val="696F7C"/>
                </a:solidFill>
                <a:latin typeface="DINPro-Regular" panose="020B0504020101020102" pitchFamily="34" charset="0"/>
              </a:rPr>
              <a:t>VALIDATION STATUS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9ECC0B3-EA82-A4F5-DC58-8CAA236616EF}"/>
              </a:ext>
            </a:extLst>
          </p:cNvPr>
          <p:cNvSpPr txBox="1"/>
          <p:nvPr/>
        </p:nvSpPr>
        <p:spPr>
          <a:xfrm>
            <a:off x="6024567" y="6346184"/>
            <a:ext cx="1662315" cy="10002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40" dirty="0">
                <a:solidFill>
                  <a:srgbClr val="696F7C"/>
                </a:solidFill>
                <a:latin typeface="DINPro-Regular" panose="020B0504020101020102" pitchFamily="34" charset="0"/>
              </a:rPr>
              <a:t>Untested  →  Tested  →  Supported / Refuted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8736E4B-01CA-66A9-445C-F4D474C53A56}"/>
              </a:ext>
            </a:extLst>
          </p:cNvPr>
          <p:cNvSpPr txBox="1"/>
          <p:nvPr/>
        </p:nvSpPr>
        <p:spPr>
          <a:xfrm>
            <a:off x="9972117" y="6346184"/>
            <a:ext cx="1519647" cy="9848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40" b="0" dirty="0">
                <a:solidFill>
                  <a:srgbClr val="696F7C"/>
                </a:solidFill>
                <a:latin typeface="DINPro-Regular" panose="020B0504020101020102" pitchFamily="34" charset="0"/>
              </a:rPr>
              <a:t>Designed → Test → Learn → update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511</Words>
  <Application>Microsoft Macintosh PowerPoint</Application>
  <PresentationFormat>Widescreen</PresentationFormat>
  <Paragraphs>109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DINPro</vt:lpstr>
      <vt:lpstr>DINPro-Regular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Glinz</cp:lastModifiedBy>
  <cp:revision>7</cp:revision>
  <dcterms:created xsi:type="dcterms:W3CDTF">2013-01-27T09:14:16Z</dcterms:created>
  <dcterms:modified xsi:type="dcterms:W3CDTF">2026-08-19T11:38:30Z</dcterms:modified>
  <cp:category/>
</cp:coreProperties>
</file>